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9" r:id="rId8"/>
    <p:sldId id="264" r:id="rId9"/>
    <p:sldId id="268" r:id="rId10"/>
    <p:sldId id="262" r:id="rId11"/>
    <p:sldId id="261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7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5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4E6F2-3332-4152-8AD8-EDC426AB44FE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07BAC-AAD3-4DEF-9983-D2A0A512F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2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everyone. My name is [Your Name], and today I am pleased to present our paper titled: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'Interpretable Joint Movement Classification via Combinatorial DTW Medoid Distances and Ensemble Feature Selection.'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work was conducted alongside my colleagues Elham Mohammed Kedir,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Mihretab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Assefa Tilahun, Gete Bona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Leliso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Moez Rehman, Farid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Flitti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Yassine Benachour from the Higher Colleges of Technology in Dubai.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we will look into remote physical therapy and upper-limb rehabilitation, in which accurate movement monitoring is critical for clinical assessment. Now, I will present a framework designed to make wearable sensor-based motion classification both accurate and clinically inspectable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41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remote upper-limb rehabilitation, tracking whether an exercise correctly targets the wrist, elbow, or shoulder is essential. While using a single wrist-worn sensor is ideal for patient comfort, it introduces two major technical bottlenecks. 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First, arm joint movements produce overlapping kinematic signals at the wrist. Existing approaches often evaluate channels in isolation or rely on standard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𝑍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axes, which fail to capture the multi-axis coordination—like rotation coupled with gravitational tilt—that distinguishes an elbow motion from a shoulder motion. 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Second, there is a heavy computational dilemma. Running high-dimensional motion analytics directly on a smartwatch is far too resource-intensive and drains battery fast. 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Our approach solves this by shifting the heavy lifting offline. During model preparation, we generate an over-complete pool of over 3,000 multi-channel combination features. We then use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RUSBoost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feature selection offline to permanently prune away uninformative combinations. As a result, the smartwatch itself never calculates those 3,000+ candidate features—it only executes a compact, 75-feature algorithm, drastically reducing on-device compute while preserving high joint-level accuracy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remote upper-limb rehabilitation, tracking whether an exercise correctly targets the wrist, elbow, or shoulder is essential. While using a single wrist-worn sensor is ideal for patient comfort, it introduces two major technical bottlenecks. 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First, arm joint movements produce overlapping kinematic signals at the wrist. Existing approaches often evaluate channels in isolation or rely on standard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𝑋,𝑌,𝑍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axes, which fail to capture the multi-axis coordination—like rotation coupled with gravitational tilt—that distinguishes an elbow motion from a shoulder motion. 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Second, there is a heavy computational dilemma. Running high-dimensional motion analytics directly on a smartwatch is far too resource-intensive and drains battery fast. </a:t>
                </a:r>
              </a:p>
              <a:p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Our approach solves this by shifting the heavy lifting offline. During model preparation, we generate an over-complete pool of over 3,000 multi-channel combination features. We then use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RUSBoost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feature selection offline to permanently prune away uninformative combinations. As a result, the smartwatch itself never calculates those 3,000+ candidate features—it only executes a compact, 75-feature algorithm, drastically reducing on-device compute while preserving high joint-level accuracy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01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overcome the limitations of sliding windows, our framework operates on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complete, biomechanically meaningful movement cycles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segment self-paced repetitions using autocorrelation and resample each cycle to $T=100$ time points.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align varying movement speeds without phase distortion, we use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Time Warping (DTW)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But the core innovation of our methodology lies in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define reference templates.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DTW pipelines construct reference templates by mathematically averaging aligned signals. These synthetic centroids create non-physical trajectories that no human has ever actually performed.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Instead, we strictly use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Medoids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medoid is an actual recorded training cycle that minimizes total DTW distance to all other cycles within its class.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does this matter? Because a medoid is a real, physical movement. Physical therapists can visualize, replay, and physically audit the exact baseline templates used by the algorithm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73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EE354-C20D-3404-4D80-56ADBF4B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3FE0C-CFFA-9F59-F13A-5C7A5594D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4C899-25A9-6FC5-7480-80DC59A25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overcome the limitations of sliding windows, our framework operates on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complete, biomechanically meaningful movement cycles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segment self-paced repetitions using autocorrelation and resample each cycle to $T=100$ time points.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align varying movement speeds without phase distortion, we use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Time Warping (DTW)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But the core innovation of our methodology lies in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define reference templates.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DTW pipelines construct reference templates by mathematically averaging aligned signals. These synthetic centroids create non-physical trajectories that no human has ever actually performed.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Instead, we strictly use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Medoids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medoid is an actual recorded training cycle that minimizes total DTW distance to all other cycles within its class.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does this matter? Because a medoid is a real, physical movement. Physical therapists can visualize, replay, and physically audit the exact baseline templates used by the algorithm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F760F-6389-A8D9-1C06-69F6084A0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10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Biomechanical movement relies on multi-axis coordination. Evaluating individual sensor channels alone misses coupled motions, while computing DTW across all 19 channels simultaneously introduces significant noise.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capture coupled dynamics, we construct a structured feature pool across: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1 (Single Channels):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{19}{1} = 19$ subsets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2 (Channel Pairs):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{19}{2} = 171$ subsets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 3 (Channel Triplets):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{19}{3} = 969$ subsets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Evaluating DTW distances across these 1,159 sub-channel combinations against our 3 class medoids yields an over-complete feature pool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3,477 DTW distance features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04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over-complete pool of 3,477 features introduces high multicollinearity and redundant noise. Furthermore, real-world motion data suffers from natural class imbalance due to unequal repetition counts.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solve both issues, we employ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RUSBoost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—which integrates random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undersampling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boosting iterations to rank feature importance while handling class imbalance.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empirical analysis demonstrated a classic 'less is more' outcome: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accuracy peaks sharply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 = 75$ selected features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reaching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91.88% overall accuracy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Evaluated on the full 3,477 feature set, performance drops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88.41%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—more than a 3 percentage point drop.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75 features, additional channels add variance rather than discriminative signal. Feature selection isn't just a compression step; it is what isolates the core kinematic interactions.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27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C3C79-D54E-2EFD-A213-A8A550A2C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19CB7-2A2F-1821-48EB-9712219BB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DD500-F0AF-5F5B-67E1-82B13FAC2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over-complete pool of 3,477 features introduces high multicollinearity and redundant noise. Furthermore, real-world motion data suffers from natural class imbalance due to unequal repetition counts.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solve both issues, we employ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RUSBoost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—which integrates random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undersampling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boosting iterations to rank feature importance while handling class imbalance.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empirical analysis demonstrated a classic 'less is more' outcome: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accuracy peaks sharply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$N = 75$ selected features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reaching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91.88% overall accuracy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Evaluated on the full 3,477 feature set, performance drops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88.41%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—more than a 3 percentage point drop.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 75 features, additional channels add variance rather than discriminative signal. Feature selection isn't just a compression step; it is what isolates the core kinematic interactions.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5AB72-D6EE-5936-6705-035DAB74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Cubic Polynomial SVM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trained on these 75 features, we achieved an overall macro F1-score of 0.922 and an AUC of 0.987.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at individual joint performance: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Wrist movements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isolated almost perfectly at 96.04% recall, thanks to distinct gyroscopic rotation signatures.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Elbow vs. Shoulder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exhibits minor bidirectional confusion (12 elbow cycles misclassified as shoulder; 11 shoulder as elbow) due to anatomical kinematic coupling between proximate joints.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I want to draw your attention to a critical methodological finding: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Precision versus AUC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Elbow class exhibits a high AUC of 0.981, its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Precision (AP) drops to 0.624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Precision-Recall curves reveal that elbow precision degrades past moderate recall—a trade-off that ROC curves completely obscure. In clinical motion analysis, reporting PR metrics alongside ROC curves is mandatory to avoid overoptimistic assessments."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36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benchmarked our pipeline against standard time-series classifiers: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Euclidean 1-NN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achieved 82.32%, with shoulder accuracy falling to 66.96%. The 7.25% drop confirms that non-linear temporal alignment is necessary to handle timing variability.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Multivariate 1-NN DTW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achieved 89.57%.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Proposed Pipeline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reached 91.88% overall accuracy.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a paired McNemar test shows the accuracy gain over 1-NN DTW is not statistically significant ($\chi^2 = 1.88, p = 0.170$), our pipeline provides a massive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computational advantage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1-NN DTW requires computing expensive 19-channel DTW alignments against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training cycle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runtime. Our pipeline evaluates DTW distance against only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static medoids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low-dimensional sub-channels, achieving approximately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46-fold compute reduction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—making it realistic for embedded deployment.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53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conclusion, we have presented a clinically interpretable joint classification framework that pairs single-sensor IMU data with real movement medoids and ensemble feature selection.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extracting 75 structured features out of 3,477 candidates, we improved accuracy by over 3 percentage points while maintaining full auditability for clinicians.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forward, our future work focuses on: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Validating the pipeline on larger cohorts using subject-independent cross-validation.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Developing multi-joint prototype templates to resolve elbow-shoulder coupling.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Benchmarking real-time power draw and latency on wearable microcontrollers.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time, and I am happy to open the floor to any questions.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07BAC-AAD3-4DEF-9983-D2A0A512F6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6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37994" y="2596106"/>
            <a:ext cx="10491311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200" b="1" i="0" u="none" dirty="0">
                <a:solidFill>
                  <a:srgbClr val="0F172A"/>
                </a:solidFill>
                <a:latin typeface="Poppins"/>
              </a:rPr>
              <a:t>Interpretable Joint Movement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0412" y="3286668"/>
            <a:ext cx="6086475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2000" b="0" i="0" u="none" dirty="0">
                <a:solidFill>
                  <a:schemeClr val="tx2"/>
                </a:solidFill>
                <a:latin typeface="Lato"/>
              </a:rPr>
              <a:t>via Combinatorial DTW Medoid Distances and Ensemble Feature </a:t>
            </a:r>
            <a:r>
              <a:rPr sz="2000" dirty="0">
                <a:solidFill>
                  <a:schemeClr val="tx2"/>
                </a:solidFill>
                <a:latin typeface="Lato"/>
              </a:rPr>
              <a:t>Selection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516F19-B095-9039-6639-054CD1B3CFE0}"/>
              </a:ext>
            </a:extLst>
          </p:cNvPr>
          <p:cNvGrpSpPr/>
          <p:nvPr/>
        </p:nvGrpSpPr>
        <p:grpSpPr>
          <a:xfrm>
            <a:off x="1928811" y="4440456"/>
            <a:ext cx="8334375" cy="419100"/>
            <a:chOff x="1928812" y="3998118"/>
            <a:chExt cx="8334375" cy="419100"/>
          </a:xfrm>
        </p:grpSpPr>
        <p:sp>
          <p:nvSpPr>
            <p:cNvPr id="6" name="TextBox 5"/>
            <p:cNvSpPr txBox="1"/>
            <p:nvPr/>
          </p:nvSpPr>
          <p:spPr>
            <a:xfrm>
              <a:off x="1928812" y="3998118"/>
              <a:ext cx="8334375" cy="2000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75" b="1" i="0" u="none" dirty="0">
                  <a:solidFill>
                    <a:srgbClr val="1E293B"/>
                  </a:solidFill>
                  <a:latin typeface="Lato"/>
                </a:rPr>
                <a:t>Elham Mohammed Kedir, </a:t>
              </a:r>
              <a:r>
                <a:rPr sz="1275" b="1" i="0" u="none" dirty="0" err="1">
                  <a:solidFill>
                    <a:srgbClr val="1E293B"/>
                  </a:solidFill>
                  <a:latin typeface="Lato"/>
                </a:rPr>
                <a:t>Mihretab</a:t>
              </a:r>
              <a:r>
                <a:rPr sz="1275" b="1" i="0" u="none" dirty="0">
                  <a:solidFill>
                    <a:srgbClr val="1E293B"/>
                  </a:solidFill>
                  <a:latin typeface="Lato"/>
                </a:rPr>
                <a:t> Assefa Tilahun, Gete Bona </a:t>
              </a:r>
              <a:r>
                <a:rPr sz="1275" b="1" i="0" u="none" dirty="0" err="1">
                  <a:solidFill>
                    <a:srgbClr val="1E293B"/>
                  </a:solidFill>
                  <a:latin typeface="Lato"/>
                </a:rPr>
                <a:t>Leliso</a:t>
              </a:r>
              <a:r>
                <a:rPr sz="1275" b="1" i="0" u="none" dirty="0">
                  <a:solidFill>
                    <a:srgbClr val="1E293B"/>
                  </a:solidFill>
                  <a:latin typeface="Lato"/>
                </a:rPr>
                <a:t>, Moez Rehman, Farid </a:t>
              </a:r>
              <a:r>
                <a:rPr sz="1275" b="1" i="0" u="none" dirty="0" err="1">
                  <a:solidFill>
                    <a:srgbClr val="1E293B"/>
                  </a:solidFill>
                  <a:latin typeface="Lato"/>
                </a:rPr>
                <a:t>Flitti</a:t>
              </a:r>
              <a:r>
                <a:rPr sz="1275" b="1" i="0" u="none" dirty="0">
                  <a:solidFill>
                    <a:srgbClr val="1E293B"/>
                  </a:solidFill>
                  <a:latin typeface="Lato"/>
                </a:rPr>
                <a:t>, Yassine Benachour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33862" y="4245768"/>
              <a:ext cx="3724275" cy="1714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25" b="0" i="0" u="none" dirty="0">
                  <a:solidFill>
                    <a:srgbClr val="64748B"/>
                  </a:solidFill>
                  <a:latin typeface="Lato"/>
                </a:rPr>
                <a:t>Higher Colleges of Technology, Dubai, United Arab Emirates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426163" y="6517289"/>
            <a:ext cx="5514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chemeClr val="tx2"/>
                </a:solidFill>
                <a:latin typeface="Lato"/>
              </a:rPr>
              <a:t>2026 Intelligent Information Systems and Computing Conference (IEEE UAE Section)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9CBEE2-85C9-62A3-2365-5D5C16E7AF52}"/>
              </a:ext>
            </a:extLst>
          </p:cNvPr>
          <p:cNvGrpSpPr/>
          <p:nvPr/>
        </p:nvGrpSpPr>
        <p:grpSpPr>
          <a:xfrm>
            <a:off x="543981" y="692368"/>
            <a:ext cx="11215720" cy="935143"/>
            <a:chOff x="720341" y="848910"/>
            <a:chExt cx="11215720" cy="93514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939E6CF-EEE0-F0BA-3B30-2FF7BF0BB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341" y="848910"/>
              <a:ext cx="995476" cy="93514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D2459A-E241-C71E-A632-82E18D546319}"/>
                </a:ext>
              </a:extLst>
            </p:cNvPr>
            <p:cNvSpPr txBox="1"/>
            <p:nvPr/>
          </p:nvSpPr>
          <p:spPr>
            <a:xfrm>
              <a:off x="1731012" y="1000364"/>
              <a:ext cx="1020504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l">
                <a:buNone/>
              </a:pPr>
              <a:r>
                <a:rPr lang="en-US" sz="2800" b="1" i="0" spc="22" dirty="0">
                  <a:solidFill>
                    <a:srgbClr val="002855"/>
                  </a:solidFill>
                  <a:effectLst/>
                  <a:latin typeface="Inter"/>
                </a:rPr>
                <a:t>Intelligent Information Systems and Computing Conference (IISCC)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9125" y="476250"/>
            <a:ext cx="5500687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Clinical Dilemma in Rehabilitation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476250"/>
            <a:ext cx="47625" cy="9715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4125" y="1498611"/>
            <a:ext cx="5857875" cy="386077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4010BFD-032C-0F1F-C111-99FE8C19F7A4}"/>
              </a:ext>
            </a:extLst>
          </p:cNvPr>
          <p:cNvGrpSpPr/>
          <p:nvPr/>
        </p:nvGrpSpPr>
        <p:grpSpPr>
          <a:xfrm>
            <a:off x="469106" y="2115591"/>
            <a:ext cx="5650706" cy="1200447"/>
            <a:chOff x="476250" y="2382440"/>
            <a:chExt cx="5650706" cy="1200447"/>
          </a:xfrm>
        </p:grpSpPr>
        <p:sp>
          <p:nvSpPr>
            <p:cNvPr id="6" name="TextBox 5"/>
            <p:cNvSpPr txBox="1"/>
            <p:nvPr/>
          </p:nvSpPr>
          <p:spPr>
            <a:xfrm>
              <a:off x="476250" y="2382440"/>
              <a:ext cx="5650706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 u="none" dirty="0">
                  <a:solidFill>
                    <a:srgbClr val="1E293B"/>
                  </a:solidFill>
                  <a:latin typeface="Poppins SemiBold"/>
                </a:rPr>
                <a:t>Single-Sensor Wrist Tracking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76250" y="2830115"/>
              <a:ext cx="5381625" cy="7527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76"/>
                </a:lnSpc>
              </a:pPr>
              <a:r>
                <a:rPr sz="1400" b="0" i="0" u="none" dirty="0">
                  <a:solidFill>
                    <a:srgbClr val="334155"/>
                  </a:solidFill>
                  <a:latin typeface="Lato"/>
                </a:rPr>
                <a:t>Deploying a single wrist-worn IMU is optimal for patient compliance in remote therapy. However, wrist, elbow, and shoulder movements generate overlapping kinematic signals at the wrist.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76250" y="3716238"/>
            <a:ext cx="565070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1E293B"/>
                </a:solidFill>
                <a:latin typeface="Poppins SemiBold"/>
              </a:rPr>
              <a:t>Limitations of Existing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4163913"/>
            <a:ext cx="5381625" cy="487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400" b="1" i="0" u="none" dirty="0">
                <a:solidFill>
                  <a:srgbClr val="334155"/>
                </a:solidFill>
                <a:latin typeface="Lato"/>
              </a:rPr>
              <a:t>Single-Channel Limitations: </a:t>
            </a:r>
            <a:r>
              <a:rPr lang="en-US" sz="1400" i="0" u="none" dirty="0">
                <a:solidFill>
                  <a:srgbClr val="334155"/>
                </a:solidFill>
                <a:latin typeface="Lato"/>
              </a:rPr>
              <a:t>Standard single-channel or basic X,Y,Z signals miss multi-axis coordination across joint movements.</a:t>
            </a:r>
            <a:endParaRPr sz="1400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33D53E-3409-5FF4-BB1E-EE9E5D01FAB3}"/>
              </a:ext>
            </a:extLst>
          </p:cNvPr>
          <p:cNvSpPr txBox="1"/>
          <p:nvPr/>
        </p:nvSpPr>
        <p:spPr>
          <a:xfrm>
            <a:off x="469103" y="4817803"/>
            <a:ext cx="5381625" cy="743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400" b="1" i="0" u="none" dirty="0">
                <a:solidFill>
                  <a:srgbClr val="334155"/>
                </a:solidFill>
                <a:latin typeface="Lato"/>
              </a:rPr>
              <a:t>High On-Device Cost: </a:t>
            </a:r>
            <a:r>
              <a:rPr lang="en-US" sz="1400" i="0" u="none" dirty="0">
                <a:solidFill>
                  <a:srgbClr val="334155"/>
                </a:solidFill>
                <a:latin typeface="Lato"/>
              </a:rPr>
              <a:t>Running high-dimensional time-series analytics on smartwatches causes severe battery drain and memory overhead.</a:t>
            </a:r>
            <a:endParaRPr sz="1400" i="0" u="none" dirty="0">
              <a:solidFill>
                <a:srgbClr val="334155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625" y="3996380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36625" y="4701230"/>
            <a:ext cx="308710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1E293B"/>
                </a:solidFill>
                <a:latin typeface="Poppins SemiBold"/>
              </a:rPr>
              <a:t>Cycle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6625" y="5148905"/>
            <a:ext cx="2940099" cy="1000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 dirty="0">
                <a:solidFill>
                  <a:srgbClr val="334155"/>
                </a:solidFill>
                <a:latin typeface="Lato"/>
              </a:rPr>
              <a:t>Autocorrelation segments continuous IMU streams into complete, biomechanically meaningful repetitions normalized to samples.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50" y="4120205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900" y="5920430"/>
            <a:ext cx="744438" cy="3333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150" y="6025205"/>
            <a:ext cx="553938" cy="1238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Cycles &amp; DTW Medoid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39C9B-F261-9442-2C15-0A83E782B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377" y="4321345"/>
            <a:ext cx="3715268" cy="1914792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8715F191-93FA-7E23-1260-B43F8508E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232" y="1477865"/>
            <a:ext cx="514350" cy="5143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0889EAA-EB49-0A21-B094-3ACA6471A259}"/>
              </a:ext>
            </a:extLst>
          </p:cNvPr>
          <p:cNvSpPr txBox="1"/>
          <p:nvPr/>
        </p:nvSpPr>
        <p:spPr>
          <a:xfrm>
            <a:off x="1314232" y="2182715"/>
            <a:ext cx="308710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1E293B"/>
                </a:solidFill>
                <a:latin typeface="Poppins SemiBold"/>
              </a:rPr>
              <a:t>Our Dataset</a:t>
            </a:r>
            <a:endParaRPr sz="2000" b="0" i="0" u="none" dirty="0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73A498-39C6-A5A8-0A04-4C9E58FD1381}"/>
              </a:ext>
            </a:extLst>
          </p:cNvPr>
          <p:cNvSpPr txBox="1"/>
          <p:nvPr/>
        </p:nvSpPr>
        <p:spPr>
          <a:xfrm>
            <a:off x="1314230" y="2630390"/>
            <a:ext cx="4577019" cy="1374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025"/>
              </a:lnSpc>
              <a:buFont typeface="Arial" panose="020B0604020202020204" pitchFamily="34" charset="0"/>
              <a:buChar char="•"/>
            </a:pPr>
            <a:r>
              <a:rPr lang="en-US" sz="1400" b="0" i="0" u="none" dirty="0">
                <a:solidFill>
                  <a:srgbClr val="334155"/>
                </a:solidFill>
                <a:latin typeface="Lato"/>
              </a:rPr>
              <a:t>The </a:t>
            </a:r>
            <a:r>
              <a:rPr lang="en-US" sz="1400" b="0" i="0" u="none" dirty="0" err="1">
                <a:solidFill>
                  <a:srgbClr val="334155"/>
                </a:solidFill>
                <a:latin typeface="Lato"/>
              </a:rPr>
              <a:t>HemiPhysioData</a:t>
            </a:r>
            <a:r>
              <a:rPr lang="en-US" sz="1400" b="0" i="0" u="none" dirty="0">
                <a:solidFill>
                  <a:srgbClr val="334155"/>
                </a:solidFill>
                <a:latin typeface="Lato"/>
              </a:rPr>
              <a:t> App is a WatchOS app that runs on Apple Watch.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 u="none" dirty="0">
                <a:solidFill>
                  <a:srgbClr val="334155"/>
                </a:solidFill>
                <a:latin typeface="Lato"/>
              </a:rPr>
              <a:t>Data were collected from three adult participants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 u="none" dirty="0">
                <a:solidFill>
                  <a:srgbClr val="334155"/>
                </a:solidFill>
                <a:latin typeface="Lato"/>
              </a:rPr>
              <a:t>Type of movement performed – elbow extension/flexion (el-</a:t>
            </a:r>
            <a:r>
              <a:rPr lang="en-US" sz="1400" b="0" i="0" u="none" dirty="0" err="1">
                <a:solidFill>
                  <a:srgbClr val="334155"/>
                </a:solidFill>
                <a:latin typeface="Lato"/>
              </a:rPr>
              <a:t>exfl</a:t>
            </a:r>
            <a:r>
              <a:rPr lang="en-US" sz="1400" b="0" i="0" u="none" dirty="0">
                <a:solidFill>
                  <a:srgbClr val="334155"/>
                </a:solidFill>
                <a:latin typeface="Lato"/>
              </a:rPr>
              <a:t>), shoulder extension/flexion (</a:t>
            </a:r>
            <a:r>
              <a:rPr lang="en-US" sz="1400" b="0" i="0" u="none" dirty="0" err="1">
                <a:solidFill>
                  <a:srgbClr val="334155"/>
                </a:solidFill>
                <a:latin typeface="Lato"/>
              </a:rPr>
              <a:t>sh-exfl</a:t>
            </a:r>
            <a:r>
              <a:rPr lang="en-US" sz="1400" b="0" i="0" u="none" dirty="0">
                <a:solidFill>
                  <a:srgbClr val="334155"/>
                </a:solidFill>
                <a:latin typeface="Lato"/>
              </a:rPr>
              <a:t>), and wrist pronation/ supination (</a:t>
            </a:r>
            <a:r>
              <a:rPr lang="en-US" sz="1400" b="0" i="0" u="none" dirty="0" err="1">
                <a:solidFill>
                  <a:srgbClr val="334155"/>
                </a:solidFill>
                <a:latin typeface="Lato"/>
              </a:rPr>
              <a:t>wr-prsu</a:t>
            </a:r>
            <a:r>
              <a:rPr lang="en-US" sz="1400" b="0" i="0" u="none" dirty="0">
                <a:solidFill>
                  <a:srgbClr val="334155"/>
                </a:solidFill>
                <a:latin typeface="Lato"/>
              </a:rPr>
              <a:t>)</a:t>
            </a:r>
            <a:endParaRPr sz="1400" b="0" i="0" u="none" dirty="0">
              <a:solidFill>
                <a:srgbClr val="334155"/>
              </a:solidFill>
              <a:latin typeface="Lato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6CB1552-4433-EC0B-9414-A56EC0A1DDB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47" t="3548" r="6114" b="4115"/>
          <a:stretch>
            <a:fillRect/>
          </a:stretch>
        </p:blipFill>
        <p:spPr>
          <a:xfrm>
            <a:off x="7046101" y="1127023"/>
            <a:ext cx="3273692" cy="2729459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76F5A654-55C7-74EB-659A-D9FC0EAEA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4719" y="1600200"/>
            <a:ext cx="33337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89AB1-65D9-CF17-B45F-3C91A8048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3ED1EF9E-83C9-968C-1F09-456E928BE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24" y="1584022"/>
            <a:ext cx="514350" cy="514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C488DD-7E86-10A5-2C4D-39F8FE1DA903}"/>
              </a:ext>
            </a:extLst>
          </p:cNvPr>
          <p:cNvSpPr txBox="1"/>
          <p:nvPr/>
        </p:nvSpPr>
        <p:spPr>
          <a:xfrm>
            <a:off x="968424" y="2288872"/>
            <a:ext cx="308710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1E293B"/>
                </a:solidFill>
                <a:latin typeface="Poppins SemiBold"/>
              </a:rPr>
              <a:t>Dynamic Time Warping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1984F1-AC5F-01D6-E484-2DE0F988521D}"/>
              </a:ext>
            </a:extLst>
          </p:cNvPr>
          <p:cNvSpPr txBox="1"/>
          <p:nvPr/>
        </p:nvSpPr>
        <p:spPr>
          <a:xfrm>
            <a:off x="968424" y="2736547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334155"/>
                </a:solidFill>
                <a:latin typeface="Lato"/>
              </a:rPr>
              <a:t>Multivariate DTW nonlinearly aligns movement repetitions executed at varying speeds without phase distortion, preserving temporal dynamics.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2F6CC6E8-4EF0-C1E8-3566-0D09D96EE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110" y="1506735"/>
            <a:ext cx="514350" cy="514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7AF3F8-70F9-E0AB-186F-F5D9F8A05C80}"/>
              </a:ext>
            </a:extLst>
          </p:cNvPr>
          <p:cNvSpPr txBox="1"/>
          <p:nvPr/>
        </p:nvSpPr>
        <p:spPr>
          <a:xfrm>
            <a:off x="7776110" y="2211585"/>
            <a:ext cx="308710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1E293B"/>
                </a:solidFill>
                <a:latin typeface="Poppins SemiBold"/>
              </a:rPr>
              <a:t>Class Medoids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C0AF6D-9700-3013-474C-195B2E0D90A5}"/>
              </a:ext>
            </a:extLst>
          </p:cNvPr>
          <p:cNvSpPr txBox="1"/>
          <p:nvPr/>
        </p:nvSpPr>
        <p:spPr>
          <a:xfrm>
            <a:off x="7776110" y="2659260"/>
            <a:ext cx="2940099" cy="1256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400" b="0" i="0" u="none">
                <a:solidFill>
                  <a:srgbClr val="334155"/>
                </a:solidFill>
                <a:latin typeface="Lato"/>
              </a:rPr>
              <a:t>Instead of synthetic centroids (which produce unphysical average trajectories), medoids are real recorded cycles minimizing intra-class DTW distance for clinical replay.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E58F38E7-8CFB-18AD-678D-ADE69F194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912" y="1707847"/>
            <a:ext cx="333375" cy="266700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EC649354-392F-A218-3C0F-6E0BECDF7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6597" y="1630560"/>
            <a:ext cx="333375" cy="2667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93BC27-37BD-742A-6D8A-2F61A47CA147}"/>
              </a:ext>
            </a:extLst>
          </p:cNvPr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Cycles &amp; DTW Medoid 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1C7CBE-27D5-2ABF-6809-92B894074EFD}"/>
              </a:ext>
            </a:extLst>
          </p:cNvPr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ynamic Time Warping (DTW) for alignment of two series of scalars, by... |  Download Scientific Diagram">
            <a:extLst>
              <a:ext uri="{FF2B5EF4-FFF2-40B4-BE49-F238E27FC236}">
                <a16:creationId xmlns:a16="http://schemas.microsoft.com/office/drawing/2014/main" id="{98E7A994-C83B-0EAB-B745-3EAD90198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162320"/>
            <a:ext cx="4222993" cy="238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7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7" y="5429094"/>
            <a:ext cx="4705350" cy="1019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1673060"/>
            <a:ext cx="494061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latin typeface="Poppins SemiBold"/>
              </a:rPr>
              <a:t>Multi-Axis 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120735"/>
            <a:ext cx="47053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Upper limb motions engage multiple sensor channels simultaneously (e.g., rotation coupled with gravitational acceleration shifts).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25610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From 19 IMU channels, structured sub-channel combinations are constructed: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85825" y="3673310"/>
                <a:ext cx="4705350" cy="26795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en-US" sz="1350" b="0" i="0" u="none" dirty="0">
                    <a:solidFill>
                      <a:srgbClr val="334155"/>
                    </a:solidFill>
                    <a:latin typeface="Lato"/>
                  </a:rPr>
                  <a:t>• </a:t>
                </a:r>
                <a:r>
                  <a:rPr lang="en-US" sz="1350" b="1" i="0" u="none" dirty="0">
                    <a:solidFill>
                      <a:srgbClr val="334155"/>
                    </a:solidFill>
                    <a:latin typeface="Lato"/>
                  </a:rPr>
                  <a:t>Single Channels: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b="1" i="1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ar-AE" sz="1600" b="1" i="1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1600" b="1" i="1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  <m:t>𝟏𝟗</m:t>
                            </m:r>
                          </m:num>
                          <m:den>
                            <m:r>
                              <a:rPr lang="en-US" sz="1600" b="1" i="1" smtClean="0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d>
                    <m:r>
                      <a:rPr lang="en-US" sz="1600" b="1">
                        <a:solidFill>
                          <a:srgbClr val="33415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0" smtClean="0">
                        <a:solidFill>
                          <a:srgbClr val="334155"/>
                        </a:solidFill>
                        <a:latin typeface="Cambria Math" panose="02040503050406030204" pitchFamily="18" charset="0"/>
                      </a:rPr>
                      <m:t>𝟏𝟗</m:t>
                    </m:r>
                  </m:oMath>
                </a14:m>
                <a:r>
                  <a:rPr lang="en-US" sz="1600" b="1" i="0" u="none" dirty="0">
                    <a:solidFill>
                      <a:srgbClr val="334155"/>
                    </a:solidFill>
                    <a:latin typeface="Lato"/>
                  </a:rPr>
                  <a:t> </a:t>
                </a:r>
                <a:r>
                  <a:rPr lang="en-US" sz="1200" i="0" u="none" dirty="0">
                    <a:solidFill>
                      <a:srgbClr val="334155"/>
                    </a:solidFill>
                    <a:latin typeface="Lato"/>
                  </a:rPr>
                  <a:t>Subsets</a:t>
                </a:r>
                <a:endParaRPr sz="1200" i="0" u="none" dirty="0">
                  <a:solidFill>
                    <a:srgbClr val="334155"/>
                  </a:solidFill>
                  <a:latin typeface="Lato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3673310"/>
                <a:ext cx="4705350" cy="267958"/>
              </a:xfrm>
              <a:prstGeom prst="rect">
                <a:avLst/>
              </a:prstGeom>
              <a:blipFill>
                <a:blip r:embed="rId4"/>
                <a:stretch>
                  <a:fillRect l="-2202" t="-1363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85825" y="4157894"/>
                <a:ext cx="4705350" cy="26795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en-US" sz="1350" b="0" i="0" u="none" dirty="0">
                    <a:solidFill>
                      <a:srgbClr val="334155"/>
                    </a:solidFill>
                    <a:latin typeface="Lato"/>
                  </a:rPr>
                  <a:t>• </a:t>
                </a:r>
                <a:r>
                  <a:rPr lang="en-US" sz="1350" b="1" i="0" u="none" dirty="0">
                    <a:solidFill>
                      <a:srgbClr val="334155"/>
                    </a:solidFill>
                    <a:latin typeface="Lato"/>
                  </a:rPr>
                  <a:t>Channel Pairs: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b="1" i="1" smtClean="0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ar-AE" sz="1600" b="1" i="1" smtClean="0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1600" b="1" i="1" smtClean="0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  <m:t>𝟏𝟗</m:t>
                            </m:r>
                          </m:num>
                          <m:den>
                            <m:r>
                              <a:rPr lang="ar-AE" sz="1600" b="1" i="1" smtClean="0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sz="1600" b="1" i="0" smtClean="0">
                        <a:solidFill>
                          <a:srgbClr val="33415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0" smtClean="0">
                        <a:solidFill>
                          <a:srgbClr val="334155"/>
                        </a:solidFill>
                        <a:latin typeface="Cambria Math" panose="02040503050406030204" pitchFamily="18" charset="0"/>
                      </a:rPr>
                      <m:t>𝟏𝟕𝟏</m:t>
                    </m:r>
                  </m:oMath>
                </a14:m>
                <a:r>
                  <a:rPr lang="en-US" sz="1600" b="1" i="0" dirty="0">
                    <a:solidFill>
                      <a:srgbClr val="334155"/>
                    </a:solidFill>
                    <a:latin typeface="Lato"/>
                  </a:rPr>
                  <a:t> </a:t>
                </a:r>
                <a:r>
                  <a:rPr lang="en-US" sz="1200" dirty="0">
                    <a:solidFill>
                      <a:srgbClr val="334155"/>
                    </a:solidFill>
                    <a:latin typeface="Lato"/>
                  </a:rPr>
                  <a:t>Subsets</a:t>
                </a:r>
                <a:endParaRPr lang="en-US" sz="1600" b="1" i="0" dirty="0">
                  <a:solidFill>
                    <a:srgbClr val="334155"/>
                  </a:solidFill>
                  <a:latin typeface="Lato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4157894"/>
                <a:ext cx="4705350" cy="267958"/>
              </a:xfrm>
              <a:prstGeom prst="rect">
                <a:avLst/>
              </a:prstGeom>
              <a:blipFill>
                <a:blip r:embed="rId5"/>
                <a:stretch>
                  <a:fillRect l="-2202" t="-1363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85825" y="4642479"/>
                <a:ext cx="4705350" cy="26795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en-US" sz="1350" b="0" i="0" u="none" dirty="0">
                    <a:solidFill>
                      <a:srgbClr val="334155"/>
                    </a:solidFill>
                    <a:latin typeface="Lato"/>
                  </a:rPr>
                  <a:t>• </a:t>
                </a:r>
                <a:r>
                  <a:rPr lang="en-US" sz="1350" b="1" i="0" u="none" dirty="0">
                    <a:solidFill>
                      <a:srgbClr val="334155"/>
                    </a:solidFill>
                    <a:latin typeface="Lato"/>
                  </a:rPr>
                  <a:t>Channel Triplets: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600" b="1" i="1">
                            <a:solidFill>
                              <a:srgbClr val="33415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ar-AE" sz="1600" b="1" i="1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1600" b="1" i="1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  <m:t>𝟏𝟗</m:t>
                            </m:r>
                          </m:num>
                          <m:den>
                            <m:r>
                              <a:rPr lang="en-US" sz="1600" b="1" i="1" smtClean="0">
                                <a:solidFill>
                                  <a:srgbClr val="334155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</m:e>
                    </m:d>
                    <m:r>
                      <a:rPr lang="ar-AE" sz="1600" b="1">
                        <a:solidFill>
                          <a:srgbClr val="33415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 b="1" i="0" smtClean="0">
                        <a:solidFill>
                          <a:srgbClr val="334155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1600" b="1" i="0" smtClean="0">
                        <a:solidFill>
                          <a:srgbClr val="334155"/>
                        </a:solidFill>
                        <a:latin typeface="Cambria Math" panose="02040503050406030204" pitchFamily="18" charset="0"/>
                      </a:rPr>
                      <m:t>𝟔𝟗</m:t>
                    </m:r>
                  </m:oMath>
                </a14:m>
                <a:r>
                  <a:rPr lang="en-US" sz="1600" b="1" i="0" u="none" dirty="0">
                    <a:solidFill>
                      <a:srgbClr val="334155"/>
                    </a:solidFill>
                    <a:latin typeface="Lato"/>
                  </a:rPr>
                  <a:t> </a:t>
                </a:r>
                <a:r>
                  <a:rPr lang="en-US" sz="1200" dirty="0">
                    <a:solidFill>
                      <a:srgbClr val="334155"/>
                    </a:solidFill>
                    <a:latin typeface="Lato"/>
                  </a:rPr>
                  <a:t>Subsets</a:t>
                </a:r>
                <a:endParaRPr sz="1600" b="1" i="0" u="none" dirty="0">
                  <a:solidFill>
                    <a:srgbClr val="334155"/>
                  </a:solidFill>
                  <a:latin typeface="Lato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4642479"/>
                <a:ext cx="4705350" cy="267958"/>
              </a:xfrm>
              <a:prstGeom prst="rect">
                <a:avLst/>
              </a:prstGeom>
              <a:blipFill>
                <a:blip r:embed="rId6"/>
                <a:stretch>
                  <a:fillRect l="-2202" t="-1363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800852" y="5629119"/>
            <a:ext cx="4305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D9488"/>
                </a:solidFill>
                <a:latin typeface="Poppins"/>
              </a:rPr>
              <a:t>3,477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852" y="6076794"/>
            <a:ext cx="430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Lato"/>
              </a:rPr>
              <a:t>1,159 sub-channels × 3 class medoids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Combinatorial Feature Space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B7FCD5-9323-3E3D-AF6E-89A94D628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244" y="1673060"/>
            <a:ext cx="7473812" cy="33216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1525" y="2007750"/>
            <a:ext cx="493395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1" i="0" u="none" dirty="0">
                <a:solidFill>
                  <a:schemeClr val="tx2"/>
                </a:solidFill>
                <a:latin typeface="Poppins"/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341250"/>
            <a:ext cx="4933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0F172A"/>
                </a:solidFill>
                <a:latin typeface="Lato"/>
              </a:rPr>
              <a:t>Optimal Selected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338387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RUSBoost &amp; "Less is More"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786062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Addressing Redundancy: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Evaluating all 3,477 combinatorial DTW features introduces noise and severe multicollinearity.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433762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Class Imbalance: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RUSBoost embeds random undersampling into boosting iterations to handle unequal cycle counts and rank predictor importance.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338637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Performance Peak: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Classification accuracy peaks sharply at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N = 75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(91.88%). Retaining all 3,477 features drops accuracy to 88.41% (&gt;3% lower).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Ensemble Feature Selection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3F3644-5059-E970-3E6B-B3BE2A9FB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819524"/>
            <a:ext cx="5372850" cy="2486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A4FA4-FC90-813C-283B-AB0F8195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A455AF-EAEB-432B-3A87-3EB7E73CBDEF}"/>
              </a:ext>
            </a:extLst>
          </p:cNvPr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Ensemble Feature 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98DA0-A20E-2073-A70C-817B9309EC31}"/>
              </a:ext>
            </a:extLst>
          </p:cNvPr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37A87F-40F7-E3C1-F2FC-3041B001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6124" y="1558145"/>
            <a:ext cx="7849029" cy="459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4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66725" y="289792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3215" y="3317027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latin typeface="Poppins SemiBold"/>
              </a:rPr>
              <a:t>1. Stream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3631352"/>
            <a:ext cx="22173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200" b="0" i="0" u="none" dirty="0">
                <a:solidFill>
                  <a:srgbClr val="475569"/>
                </a:solidFill>
                <a:latin typeface="Lato"/>
              </a:rPr>
              <a:t>19 IMU raw channels captured at 100 Hz from wrist watch.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9135" y="1602527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>
                <a:latin typeface="Poppins SemiBold"/>
              </a:rPr>
              <a:t>2. Cycle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4569" y="191685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Autocorrelation segments continuous motion into T=100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055" y="3317027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>
                <a:latin typeface="Poppins SemiBold"/>
              </a:rPr>
              <a:t>3. Medoid DTW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489" y="363135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Distances evaluated across 75 selected sub-channels against 3 medoids.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0975" y="1802552"/>
            <a:ext cx="232825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>
                <a:latin typeface="Poppins SemiBold"/>
              </a:rPr>
              <a:t>4. Cubic SVM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6409" y="2116877"/>
            <a:ext cx="22173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Polynomial kernel outputs joint classification (91.88% Accuracy).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End-to-End Execution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32570" y="2812202"/>
            <a:ext cx="209550" cy="2095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68490" y="2812202"/>
            <a:ext cx="209550" cy="2095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04409" y="2812202"/>
            <a:ext cx="209550" cy="2095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40329" y="2812202"/>
            <a:ext cx="209550" cy="2095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72E08E-66E8-EE1A-0E02-9F0C5C90E30D}"/>
                  </a:ext>
                </a:extLst>
              </p:cNvPr>
              <p:cNvSpPr txBox="1"/>
              <p:nvPr/>
            </p:nvSpPr>
            <p:spPr>
              <a:xfrm>
                <a:off x="595312" y="4610901"/>
                <a:ext cx="11266839" cy="1964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US" b="1" dirty="0">
                    <a:effectLst/>
                    <a:latin typeface="+mn-lt"/>
                  </a:rPr>
                  <a:t>Classifier Selection &amp; Parameter Setup</a:t>
                </a:r>
              </a:p>
              <a:p>
                <a:pPr marL="0" marR="0">
                  <a:buNone/>
                </a:pPr>
                <a:endParaRPr lang="en-US" dirty="0">
                  <a:effectLst/>
                  <a:latin typeface="+mn-lt"/>
                </a:endParaRPr>
              </a:p>
              <a:p>
                <a:pPr marR="0" lvl="0"/>
                <a:r>
                  <a:rPr lang="en-US" sz="1600" b="1" dirty="0">
                    <a:effectLst/>
                    <a:latin typeface="+mn-lt"/>
                  </a:rPr>
                  <a:t>Kernel Choice (Cubic Kernel):</a:t>
                </a:r>
                <a:r>
                  <a:rPr lang="en-US" sz="1600" dirty="0">
                    <a:effectLst/>
                    <a:latin typeface="+mn-lt"/>
                  </a:rPr>
                  <a:t> Polynomial kernel of degree 3,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+mn-lt"/>
                      </a:rPr>
                      <m:t>𝐾</m:t>
                    </m:r>
                    <m:d>
                      <m:dPr>
                        <m:ctrlPr>
                          <a:rPr lang="en-US" sz="1600" i="1">
                            <a:latin typeface="+mn-lt"/>
                          </a:rPr>
                        </m:ctrlPr>
                      </m:dPr>
                      <m:e>
                        <m:r>
                          <a:rPr lang="en-US" sz="1600" i="1">
                            <a:latin typeface="+mn-lt"/>
                          </a:rPr>
                          <m:t>𝑥</m:t>
                        </m:r>
                        <m:r>
                          <a:rPr lang="en-US" sz="1600" i="0">
                            <a:latin typeface="+mn-lt"/>
                          </a:rPr>
                          <m:t>,</m:t>
                        </m:r>
                        <m:r>
                          <a:rPr lang="en-US" sz="1600" i="1">
                            <a:latin typeface="+mn-lt"/>
                          </a:rPr>
                          <m:t>𝑦</m:t>
                        </m:r>
                      </m:e>
                    </m:d>
                    <m:r>
                      <a:rPr lang="en-US" sz="1600" i="0">
                        <a:latin typeface="+mn-lt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+mn-lt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+mn-lt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+mn-lt"/>
                              </a:rPr>
                              <m:t>𝛾</m:t>
                            </m:r>
                            <m:r>
                              <a:rPr lang="en-US" sz="1600" i="0">
                                <a:latin typeface="+mn-lt"/>
                              </a:rPr>
                              <m:t> </m:t>
                            </m:r>
                            <m:sSup>
                              <m:sSupPr>
                                <m:ctrlPr>
                                  <a:rPr lang="en-US" sz="1600" i="1">
                                    <a:latin typeface="+mn-lt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latin typeface="+mn-lt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+mn-lt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1600" i="1">
                                <a:latin typeface="+mn-lt"/>
                              </a:rPr>
                              <m:t>𝑦</m:t>
                            </m:r>
                            <m:r>
                              <a:rPr lang="en-US" sz="1600" i="0">
                                <a:latin typeface="+mn-lt"/>
                              </a:rPr>
                              <m:t>+</m:t>
                            </m:r>
                            <m:r>
                              <a:rPr lang="en-US" sz="1600" i="1">
                                <a:latin typeface="+mn-lt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en-US" sz="1600" i="0">
                            <a:latin typeface="+mn-lt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dirty="0">
                    <a:effectLst/>
                    <a:latin typeface="+mn-lt"/>
                  </a:rPr>
                  <a:t>, models non-linear cross-channel interactions in DTW distance space. </a:t>
                </a:r>
              </a:p>
              <a:p>
                <a:pPr marR="0" lvl="0"/>
                <a:r>
                  <a:rPr lang="en-US" sz="1600" b="1" dirty="0">
                    <a:effectLst/>
                    <a:latin typeface="+mn-lt"/>
                  </a:rPr>
                  <a:t>Hyperparameter Configuration:</a:t>
                </a:r>
                <a:r>
                  <a:rPr lang="en-US" sz="1600" dirty="0">
                    <a:effectLst/>
                    <a:latin typeface="+mn-lt"/>
                  </a:rPr>
                  <a:t> Standardized features, Box Constraint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+mn-lt"/>
                      </a:rPr>
                      <m:t>𝐶</m:t>
                    </m:r>
                    <m:r>
                      <a:rPr lang="en-US" sz="1600" i="0">
                        <a:latin typeface="+mn-lt"/>
                      </a:rPr>
                      <m:t>=1.0</m:t>
                    </m:r>
                  </m:oMath>
                </a14:m>
                <a:r>
                  <a:rPr lang="en-US" sz="1600" dirty="0">
                    <a:effectLst/>
                    <a:latin typeface="+mn-lt"/>
                  </a:rPr>
                  <a:t>, and auto-scaled kernel scale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+mn-lt"/>
                      </a:rPr>
                      <m:t>𝛾</m:t>
                    </m:r>
                  </m:oMath>
                </a14:m>
                <a:r>
                  <a:rPr lang="en-US" sz="1600" dirty="0">
                    <a:effectLst/>
                    <a:latin typeface="+mn-lt"/>
                  </a:rPr>
                  <a:t>to balance decision margin and prevent overfitting. </a:t>
                </a:r>
              </a:p>
              <a:p>
                <a:pPr marR="0" lvl="0"/>
                <a:r>
                  <a:rPr lang="en-US" sz="1600" b="1" dirty="0">
                    <a:effectLst/>
                  </a:rPr>
                  <a:t>Multiclass Handling:</a:t>
                </a:r>
                <a:r>
                  <a:rPr lang="en-US" sz="1600" dirty="0">
                    <a:effectLst/>
                  </a:rPr>
                  <a:t> One-vs-One (OVO) voting scheme to effectively resolve three-class decision boundaries (Wrist, Elbow, Shoulder).</a:t>
                </a:r>
                <a:endParaRPr lang="en-US" sz="1600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72E08E-66E8-EE1A-0E02-9F0C5C90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" y="4610901"/>
                <a:ext cx="11266839" cy="1964064"/>
              </a:xfrm>
              <a:prstGeom prst="rect">
                <a:avLst/>
              </a:prstGeom>
              <a:blipFill>
                <a:blip r:embed="rId2"/>
                <a:stretch>
                  <a:fillRect l="-487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4A245-D691-592C-B562-180F0678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5CC65F4-A50D-EE1E-58FF-24F6DFC0139B}"/>
              </a:ext>
            </a:extLst>
          </p:cNvPr>
          <p:cNvSpPr txBox="1"/>
          <p:nvPr/>
        </p:nvSpPr>
        <p:spPr>
          <a:xfrm>
            <a:off x="714375" y="476250"/>
            <a:ext cx="11451431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1" i="0" u="none" dirty="0">
                <a:solidFill>
                  <a:srgbClr val="0F172A"/>
                </a:solidFill>
                <a:latin typeface="Poppins"/>
              </a:rPr>
              <a:t>Results</a:t>
            </a:r>
            <a:endParaRPr sz="25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CA0FB6-4A9E-3A2D-F4CF-C91413856B42}"/>
              </a:ext>
            </a:extLst>
          </p:cNvPr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3283F7-C1E3-E455-7039-5E7F6E9D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574368"/>
            <a:ext cx="5394971" cy="44805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348A59-167B-FEB9-5089-529D03F96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9" t="5666" r="3367" b="2331"/>
          <a:stretch>
            <a:fillRect/>
          </a:stretch>
        </p:blipFill>
        <p:spPr>
          <a:xfrm>
            <a:off x="6540403" y="1730824"/>
            <a:ext cx="5311897" cy="420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1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085915"/>
              </p:ext>
            </p:extLst>
          </p:nvPr>
        </p:nvGraphicFramePr>
        <p:xfrm>
          <a:off x="467669" y="1186553"/>
          <a:ext cx="11702911" cy="305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7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0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Joint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41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Lato"/>
                        </a:rPr>
                        <a:t>Wrist</a:t>
                      </a:r>
                      <a:endParaRPr sz="1350" b="1" i="0" u="none" dirty="0">
                        <a:solidFill>
                          <a:schemeClr val="tx1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Lato"/>
                        </a:rPr>
                        <a:t>96.04%</a:t>
                      </a:r>
                      <a:endParaRPr sz="1350" b="1" i="0" u="none" dirty="0">
                        <a:solidFill>
                          <a:schemeClr val="tx1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Lato"/>
                        </a:rPr>
                        <a:t>0.998</a:t>
                      </a:r>
                      <a:endParaRPr sz="1350" b="0" i="0" u="none" dirty="0">
                        <a:solidFill>
                          <a:schemeClr val="tx1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Lato"/>
                        </a:rPr>
                        <a:t>0.991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41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Lato"/>
                        </a:rPr>
                        <a:t>Elbow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chemeClr val="tx1"/>
                          </a:solidFill>
                          <a:latin typeface="Lato"/>
                        </a:rPr>
                        <a:t>86.84%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Lato"/>
                        </a:rPr>
                        <a:t>0.981</a:t>
                      </a:r>
                      <a:endParaRPr sz="1350" b="0" i="0" u="none" dirty="0">
                        <a:solidFill>
                          <a:schemeClr val="tx1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Lato"/>
                        </a:rPr>
                        <a:t>0.624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41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chemeClr val="tx1"/>
                          </a:solidFill>
                          <a:latin typeface="Lato"/>
                        </a:rPr>
                        <a:t>Shoulder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chemeClr val="tx1"/>
                          </a:solidFill>
                          <a:latin typeface="Lato"/>
                        </a:rPr>
                        <a:t>89.57%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chemeClr val="tx1"/>
                          </a:solidFill>
                          <a:latin typeface="Lato"/>
                        </a:rPr>
                        <a:t>0.982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chemeClr val="tx1"/>
                          </a:solidFill>
                          <a:latin typeface="Lato"/>
                        </a:rPr>
                        <a:t>0.865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415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u="none" dirty="0">
                          <a:solidFill>
                            <a:schemeClr val="tx1"/>
                          </a:solidFill>
                          <a:latin typeface="Lato"/>
                        </a:rPr>
                        <a:t>Macro Average</a:t>
                      </a:r>
                      <a:endParaRPr sz="1350" b="1" i="0" u="none" dirty="0">
                        <a:solidFill>
                          <a:schemeClr val="tx1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91.9%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92.1%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0.987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08883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81275"/>
            <a:ext cx="1883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64593" y="2581275"/>
            <a:ext cx="19175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2095" y="2581275"/>
            <a:ext cx="1723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05525" y="2581275"/>
            <a:ext cx="2278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409950"/>
            <a:ext cx="1883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4593" y="3409950"/>
            <a:ext cx="19175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2095" y="3409950"/>
            <a:ext cx="1723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05525" y="3409950"/>
            <a:ext cx="2278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238625"/>
            <a:ext cx="18835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64593" y="4238625"/>
            <a:ext cx="19175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2095" y="4238625"/>
            <a:ext cx="17234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05525" y="4238625"/>
            <a:ext cx="22784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Diagnostic Metrics &amp; Coupling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DAA4C7-D18B-CAA7-4F0F-C366A7A4AA8E}"/>
              </a:ext>
            </a:extLst>
          </p:cNvPr>
          <p:cNvSpPr txBox="1"/>
          <p:nvPr/>
        </p:nvSpPr>
        <p:spPr>
          <a:xfrm>
            <a:off x="467669" y="4627090"/>
            <a:ext cx="1145143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/>
            <a:r>
              <a:rPr lang="en-US" b="1" dirty="0">
                <a:effectLst/>
                <a:latin typeface="+mn-lt"/>
              </a:rPr>
              <a:t>Strong Global Separability</a:t>
            </a:r>
            <a:r>
              <a:rPr lang="en-US" sz="1600" b="1" dirty="0">
                <a:effectLst/>
                <a:latin typeface="+mn-lt"/>
              </a:rPr>
              <a:t>:</a:t>
            </a:r>
            <a:r>
              <a:rPr lang="en-US" sz="1600" dirty="0">
                <a:effectLst/>
                <a:latin typeface="+mn-lt"/>
              </a:rPr>
              <a:t> Near-perfect macro ROC-AUC (0.987) confirms that 75 combinatorial DTW features effectively resolve cross-joint class boundaries. </a:t>
            </a:r>
          </a:p>
          <a:p>
            <a:pPr marR="0" lvl="0" algn="just"/>
            <a:r>
              <a:rPr lang="en-US" b="1" dirty="0">
                <a:effectLst/>
                <a:latin typeface="+mn-lt"/>
              </a:rPr>
              <a:t>High-Precision Wrist Isolation</a:t>
            </a:r>
            <a:r>
              <a:rPr lang="en-US" sz="1600" b="1" dirty="0">
                <a:effectLst/>
                <a:latin typeface="+mn-lt"/>
              </a:rPr>
              <a:t>:</a:t>
            </a:r>
            <a:r>
              <a:rPr lang="en-US" sz="1600" dirty="0">
                <a:effectLst/>
                <a:latin typeface="+mn-lt"/>
              </a:rPr>
              <a:t> Exceptional wrist performance (96.0% accuracy, 0.998 AUC) is driven by distinct rotational gyroscopic signals (pronation/supination). </a:t>
            </a:r>
          </a:p>
          <a:p>
            <a:pPr marR="0" lvl="0" algn="just"/>
            <a:r>
              <a:rPr lang="en-US" b="1" dirty="0">
                <a:effectLst/>
                <a:latin typeface="+mn-lt"/>
              </a:rPr>
              <a:t>Physiological Kinematic Coupling</a:t>
            </a:r>
            <a:r>
              <a:rPr lang="en-US" sz="1600" b="1" dirty="0">
                <a:effectLst/>
                <a:latin typeface="+mn-lt"/>
              </a:rPr>
              <a:t>:</a:t>
            </a:r>
            <a:r>
              <a:rPr lang="en-US" sz="1600" dirty="0">
                <a:effectLst/>
                <a:latin typeface="+mn-lt"/>
              </a:rPr>
              <a:t> Minor performance drop in elbow and shoulder classes reflects natural anatomical movement, where shoulder activation drags elbow trajectory. </a:t>
            </a:r>
          </a:p>
          <a:p>
            <a:pPr marR="0" lvl="0" algn="just"/>
            <a:r>
              <a:rPr lang="en-US" b="1" dirty="0">
                <a:effectLst/>
                <a:latin typeface="+mn-lt"/>
              </a:rPr>
              <a:t>Threshold Sensitivity</a:t>
            </a:r>
            <a:r>
              <a:rPr lang="en-US" sz="1600" b="1" dirty="0">
                <a:effectLst/>
                <a:latin typeface="+mn-lt"/>
              </a:rPr>
              <a:t>:</a:t>
            </a:r>
            <a:r>
              <a:rPr lang="en-US" sz="1600" dirty="0">
                <a:effectLst/>
                <a:latin typeface="+mn-lt"/>
              </a:rPr>
              <a:t> The high AUC relative to recall demonstrates robust class probability ranking across all operating points.</a:t>
            </a:r>
            <a:endParaRPr lang="en-US" sz="1600" dirty="0">
              <a:effectLst/>
              <a:latin typeface="Google Sans Tex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b="34522"/>
          <a:stretch>
            <a:fillRect/>
          </a:stretch>
        </p:blipFill>
        <p:spPr>
          <a:xfrm>
            <a:off x="571500" y="1200150"/>
            <a:ext cx="11049000" cy="33927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4375" y="47625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Benchmark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09B65-9DF4-6705-3C9B-BAE65DD955FD}"/>
              </a:ext>
            </a:extLst>
          </p:cNvPr>
          <p:cNvSpPr txBox="1"/>
          <p:nvPr/>
        </p:nvSpPr>
        <p:spPr>
          <a:xfrm>
            <a:off x="864666" y="5594337"/>
            <a:ext cx="110490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Runtime Efficiency Advantage:</a:t>
            </a:r>
            <a:r>
              <a:rPr lang="en-US" dirty="0"/>
              <a:t> While accuracy gains over 1-NN DTW are comparable, 1-NN DTW requires computing full 19-channel DTW against every training cycle. The proposed medoid pipeline yields a ~46-fold runtime reduction suitable for wearable edge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AEB60-76B5-BE1F-776A-A34B0CFAB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5FAE3DC-56EA-6A38-DB09-428B0091A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76450"/>
            <a:ext cx="5334000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23CFBF-E807-B938-22DC-380F194D78B0}"/>
              </a:ext>
            </a:extLst>
          </p:cNvPr>
          <p:cNvSpPr txBox="1"/>
          <p:nvPr/>
        </p:nvSpPr>
        <p:spPr>
          <a:xfrm>
            <a:off x="914400" y="1820038"/>
            <a:ext cx="4991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Physical Therapist Auditing: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Class medoids represent actual physical patient trials, allowing clinicians to visually replay and verify baseline templates.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6A565-2BCD-0B5E-EFB5-31307606F2F6}"/>
              </a:ext>
            </a:extLst>
          </p:cNvPr>
          <p:cNvSpPr txBox="1"/>
          <p:nvPr/>
        </p:nvSpPr>
        <p:spPr>
          <a:xfrm>
            <a:off x="914400" y="2896363"/>
            <a:ext cx="4991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Microcontroller Deployment: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Computing distances against only 3 static medoids drastically cuts RAM and battery draw for real-time wearables.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2C2308B4-86DB-BDE4-E4E7-EDA303B67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43850"/>
            <a:ext cx="190500" cy="200025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7AF9B015-091C-8534-1B16-10D6AF4FD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70057"/>
            <a:ext cx="190500" cy="20002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2F0683EA-052A-C15F-31E0-445185F3A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20175"/>
            <a:ext cx="190500" cy="200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AC79E3-4D7D-DD6F-A4FA-01F3F8EB52DC}"/>
              </a:ext>
            </a:extLst>
          </p:cNvPr>
          <p:cNvSpPr txBox="1"/>
          <p:nvPr/>
        </p:nvSpPr>
        <p:spPr>
          <a:xfrm>
            <a:off x="714375" y="476250"/>
            <a:ext cx="11451431" cy="393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400" b="1" dirty="0">
                <a:solidFill>
                  <a:srgbClr val="0B2545"/>
                </a:solidFill>
                <a:latin typeface="Poppins"/>
              </a:rPr>
              <a:t>Clinical Impact &amp; Future 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B8287D-7ECE-0C3F-6766-E0FD6493CE86}"/>
              </a:ext>
            </a:extLst>
          </p:cNvPr>
          <p:cNvSpPr/>
          <p:nvPr/>
        </p:nvSpPr>
        <p:spPr>
          <a:xfrm>
            <a:off x="571500" y="476250"/>
            <a:ext cx="47625" cy="4857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274BFB-FDB0-24C0-50AC-7E8A7CD8D7E2}"/>
              </a:ext>
            </a:extLst>
          </p:cNvPr>
          <p:cNvSpPr txBox="1"/>
          <p:nvPr/>
        </p:nvSpPr>
        <p:spPr>
          <a:xfrm>
            <a:off x="914400" y="4249407"/>
            <a:ext cx="4991100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i="0" u="none" dirty="0">
                <a:solidFill>
                  <a:srgbClr val="334155"/>
                </a:solidFill>
                <a:latin typeface="Lato"/>
              </a:rPr>
              <a:t>Developing multi-joint prototype templates to resolve elbow-shoulder coupling.</a:t>
            </a:r>
            <a:endParaRPr sz="1350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C10178-DC99-7480-DCE4-8EBBD3103F03}"/>
              </a:ext>
            </a:extLst>
          </p:cNvPr>
          <p:cNvSpPr txBox="1"/>
          <p:nvPr/>
        </p:nvSpPr>
        <p:spPr>
          <a:xfrm>
            <a:off x="288185" y="1438943"/>
            <a:ext cx="6097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4155"/>
                </a:solidFill>
                <a:latin typeface="Lato"/>
              </a:rPr>
              <a:t>Clinical</a:t>
            </a:r>
            <a:r>
              <a:rPr lang="en-US" sz="1600" b="1" dirty="0">
                <a:solidFill>
                  <a:srgbClr val="0B2545"/>
                </a:solidFill>
                <a:latin typeface="Poppins"/>
              </a:rPr>
              <a:t> </a:t>
            </a:r>
            <a:r>
              <a:rPr lang="en-US" sz="1600" b="1" dirty="0">
                <a:solidFill>
                  <a:srgbClr val="334155"/>
                </a:solidFill>
                <a:latin typeface="Lato"/>
              </a:rPr>
              <a:t>Impact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B141D-B82A-BDD6-D1EB-BB2177C89D97}"/>
              </a:ext>
            </a:extLst>
          </p:cNvPr>
          <p:cNvSpPr txBox="1"/>
          <p:nvPr/>
        </p:nvSpPr>
        <p:spPr>
          <a:xfrm>
            <a:off x="288185" y="3834937"/>
            <a:ext cx="6097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4155"/>
                </a:solidFill>
                <a:latin typeface="Lato"/>
              </a:rPr>
              <a:t>Future Scope</a:t>
            </a:r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987773EC-F8A5-61FB-BD19-916E406EF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62640"/>
            <a:ext cx="190500" cy="200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2A6F90-8AF1-0B07-1AB8-71A458469B49}"/>
              </a:ext>
            </a:extLst>
          </p:cNvPr>
          <p:cNvSpPr txBox="1"/>
          <p:nvPr/>
        </p:nvSpPr>
        <p:spPr>
          <a:xfrm>
            <a:off x="914400" y="5041990"/>
            <a:ext cx="49911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Validating the pipeline on larger cohorts using subject-independent cross-validation</a:t>
            </a:r>
            <a:r>
              <a:rPr lang="en-US" sz="1350" i="0" u="none" dirty="0">
                <a:solidFill>
                  <a:srgbClr val="334155"/>
                </a:solidFill>
                <a:latin typeface="Lato"/>
              </a:rPr>
              <a:t>.</a:t>
            </a:r>
            <a:endParaRPr sz="1350" i="0" u="none" dirty="0">
              <a:solidFill>
                <a:srgbClr val="334155"/>
              </a:solidFill>
              <a:latin typeface="Lato"/>
            </a:endParaRP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B8E7E11C-F9D1-9BC6-C2EE-ADFC50790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00400"/>
            <a:ext cx="190500" cy="2000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ECCC81-4264-55FE-F8E8-C62AD3CF0979}"/>
              </a:ext>
            </a:extLst>
          </p:cNvPr>
          <p:cNvSpPr txBox="1"/>
          <p:nvPr/>
        </p:nvSpPr>
        <p:spPr>
          <a:xfrm>
            <a:off x="914400" y="5779750"/>
            <a:ext cx="49911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/>
              <a:t>Benchmarking real-time power draw and latency on wearable microcontrollers</a:t>
            </a:r>
            <a:endParaRPr sz="1350" i="0" u="none" dirty="0">
              <a:solidFill>
                <a:srgbClr val="334155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67146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887" y="3800475"/>
            <a:ext cx="4848225" cy="742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971675"/>
            <a:ext cx="116014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019425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Thank you for your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86212" y="4191000"/>
            <a:ext cx="42195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2563EB"/>
                </a:solidFill>
                <a:latin typeface="Lato SemiBold"/>
              </a:rPr>
              <a:t>fflitti@hct.ac.ae | ybenachour@hct.ac.ae | mrehman@hct.ac.ae</a:t>
            </a:r>
            <a:r>
              <a:rPr lang="en-US" sz="1200" b="0" i="0" u="none" dirty="0">
                <a:solidFill>
                  <a:srgbClr val="2563EB"/>
                </a:solidFill>
                <a:latin typeface="Lato SemiBold"/>
              </a:rPr>
              <a:t> </a:t>
            </a:r>
            <a:endParaRPr sz="1200" b="0" i="0" u="none" dirty="0">
              <a:solidFill>
                <a:srgbClr val="2563EB"/>
              </a:solidFill>
              <a:latin typeface="Lato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2253</Words>
  <Application>Microsoft Office PowerPoint</Application>
  <PresentationFormat>Widescreen</PresentationFormat>
  <Paragraphs>158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Google Sans Text</vt:lpstr>
      <vt:lpstr>Inter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Elham</dc:creator>
  <cp:keywords/>
  <dc:description>generated using python-pptx</dc:description>
  <cp:lastModifiedBy>Elham Mohammed Kedir(H00539882)</cp:lastModifiedBy>
  <cp:revision>7</cp:revision>
  <dcterms:created xsi:type="dcterms:W3CDTF">2013-01-27T09:14:16Z</dcterms:created>
  <dcterms:modified xsi:type="dcterms:W3CDTF">2026-09-15T22:48:26Z</dcterms:modified>
  <cp:category/>
</cp:coreProperties>
</file>